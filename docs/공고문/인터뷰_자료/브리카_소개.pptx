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등장인물은 셋입니다. 건물주인 임대인이 건물마다 운영사와 관리위임계약을 맺고, 운영사가 임차인과의 계약 관리, 청구, 미납 관리를 대신 합니다. 돈은 임차인이 건물 운영계좌, 즉 임대인 계좌로 직접 보냅니다. 운영사는 수수료를 받고 매달 임대인에게 보고서를 보냅니다. 브리카는 운영사가 쓰는 시스템이고, 한 시스템에 여러 운영사가 들어오므로 운영사 간 데이터 격리가 가장 중요합니다. 개발 용어의 테넌트는 운영사이지 임차인이 아니라는 점을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건물은 관리위임계약을 맺으면서 등록되고, 위임이 끝나면 관리 권한이 사라집니다. 그 긴 기간 동안 유닛마다 계약이 생기고 끝나기를 반복합니다. 계약과 계약 사이에는 공실이 생기고, 같은 임차인이 이어서 쓰면 재계약입니다. 건물주가 직접 쓰는 공간은 비운영중으로 둡니다. 시스템에서 돈이 발생하는 단위는 건물이 아니라 계약입니다.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계약은 준비중으로 등록되고, 보증금이 다 들어오면 진행중이 됩니다. 진행중인 동안 매달 같은 사이클이 돕니다. 먼저 한전·수도 고지서를 받아 유닛별로 관리비를 나누고(정산), 임대료와 합쳐 청구서를 보냅니다. 입금이 들어오면 은행 거래내역을 올려 어느 청구에 해당하는지 나눠 넣고, 덜 들어온 돈은 미납으로 관리합니다. 마지막으로 그 달 장부를 잠급니다. 미납이 남아 있어도 마감하며, 미납은 다음 달로 넘어갑니다. 마감 뒤에는 기록을 고치지 않고 조정 거래로 바로잡습니다.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1차는 관리자 백오피스 35개 화면입니다. 그중 청구·수납 10개가 핵심입니다. 2차는 임차인·임대인 포털, 알림톡, PG 연동 같은 외부 서비스, 그리고 비용 관리 같은 신규 기능입니다. 기준은 세 가지입니다. 없어도 월 사이클이 도는가, 외부 계약이나 심사가 필요한가, 일부만 만들면 엑셀과 이중 관리가 되는가. 2차 연동 때 구조를 바꾸지 않도록 가상계좌, 거래번호 같은 자리는 1차 설계에 미리 확보해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스택은 Next.js와 Supabase입니다. DB는 서울 리전으로 만들고, 로그인과 파일 저장도 Supabase 기능을 씁니다. 가장 중요한 원칙은 운영사 격리를 DB 수준에서 강제하는 것이고, 제가 코드를 직접 검증할 수 없기 때문에 격리 테스트를 명령어 하나로 돌릴 수 있어야 합니다. 진행은 외부 개발자가 설계와 기준 구현을 하고, 제가 AI 코딩 도구로 그 패턴을 따라 화면을 늘리는 방식입니다. 돈을 다루는 청구·원장과 오픈 전 보안 검수는 다시 외부 전문가의 도움을 받습니다. 이번 인터뷰는 1단계에 관한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등장하는가 — 운영사 · 임대인 · 임차인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건물주가 운영사에 관리를 맡기고, 운영사가 임차인과의 돈 흐름을 대신 관리한다. 브리카는 운영사가 쓰는 시스템이다.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26080" y="1600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63240" y="1728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 (위탁운영사)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07568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3E4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관리를 맡은 회사.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E4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브리카의 사용자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2885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임대인 (건물주)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360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개인·법인. 여러 명이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지분으로 공동 소유하기도 한다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416052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42885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임차인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463600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법인·개인사업자.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실무 담당자는 계약마다 따로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429768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4F7F8"/>
          </a:solidFill>
          <a:ln w="12700">
            <a:solidFill>
              <a:srgbClr val="B7C2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4297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· 유닛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2080260"/>
            <a:ext cx="411480" cy="0"/>
          </a:xfrm>
          <a:prstGeom prst="line">
            <a:avLst/>
          </a:prstGeom>
          <a:noFill/>
          <a:ln w="15875">
            <a:solidFill>
              <a:srgbClr val="1F4E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2080260"/>
            <a:ext cx="0" cy="2080260"/>
          </a:xfrm>
          <a:prstGeom prst="line">
            <a:avLst/>
          </a:prstGeom>
          <a:noFill/>
          <a:ln w="15875">
            <a:solidFill>
              <a:srgbClr val="1F4E5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관리위임계약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건물마다 체결 · 관리 수수료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매달 임대인 보고서 발송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2080260"/>
            <a:ext cx="411480" cy="0"/>
          </a:xfrm>
          <a:prstGeom prst="line">
            <a:avLst/>
          </a:prstGeom>
          <a:noFill/>
          <a:ln w="15875">
            <a:solidFill>
              <a:srgbClr val="1F4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2080260"/>
            <a:ext cx="0" cy="2080260"/>
          </a:xfrm>
          <a:prstGeom prst="line">
            <a:avLst/>
          </a:prstGeom>
          <a:noFill/>
          <a:ln w="15875">
            <a:solidFill>
              <a:srgbClr val="1F4E5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0350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계약 관리 · 청구서 발송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미납 안내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2560320"/>
            <a:ext cx="0" cy="1737360"/>
          </a:xfrm>
          <a:prstGeom prst="line">
            <a:avLst/>
          </a:prstGeom>
          <a:noFill/>
          <a:ln w="15875">
            <a:solidFill>
              <a:srgbClr val="1F4E5A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297680" y="3291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4640580"/>
            <a:ext cx="594360" cy="0"/>
          </a:xfrm>
          <a:prstGeom prst="line">
            <a:avLst/>
          </a:prstGeom>
          <a:noFill/>
          <a:ln w="15875">
            <a:solidFill>
              <a:srgbClr val="B7C2C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26080" y="43159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4640580"/>
            <a:ext cx="594360" cy="0"/>
          </a:xfrm>
          <a:prstGeom prst="line">
            <a:avLst/>
          </a:prstGeom>
          <a:noFill/>
          <a:ln w="15875">
            <a:solidFill>
              <a:srgbClr val="B7C2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43159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임차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5120640"/>
            <a:ext cx="0" cy="68580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5806440"/>
            <a:ext cx="4937760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5120640"/>
            <a:ext cx="0" cy="68580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2286000" y="5641848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86000" y="5641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임대료·관리비 입금 → 건물 운영계좌 (= 임대인 계좌)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1차는 임대인이 직접 받는 방식만 다룬다. 운영사가 받아서 수수료를 떼고 보내는 방식은 2차.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21040" y="1600200"/>
            <a:ext cx="3319272" cy="2834640"/>
          </a:xfrm>
          <a:prstGeom prst="roundRect">
            <a:avLst>
              <a:gd name="adj" fmla="val 322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49640" y="1755648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브리카 안에서는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21488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테온하우스</a:t>
            </a:r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시스템 운영자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247802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└ 운영사 A</a:t>
            </a:r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실제 데이터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28072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└ 운영사 B</a:t>
            </a:r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검증용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31363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└ 운영사 C</a:t>
            </a:r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검증용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46557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└ 건물 → 유닛 → 계약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549640" y="384048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슈퍼관리자는 소속 운영사 전체를, 관리자는 배정된 건물만 본다.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21040" y="4617720"/>
            <a:ext cx="3319272" cy="1737360"/>
          </a:xfrm>
          <a:prstGeom prst="roundRect">
            <a:avLst>
              <a:gd name="adj" fmla="val 5263"/>
            </a:avLst>
          </a:prstGeom>
          <a:solidFill>
            <a:srgbClr val="FDF4E6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49640" y="475488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용어 주의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549640" y="507492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멀티테넌트의 "테넌트"는 운영사다. 임차인(tenant)이 아니다.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운영사끼리는 데이터가 절대 섞이면 안 되고, 이것을 DB에서 강제한다(RLS).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건물의 라이프사이클 — 계약은 그 사이사이에 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건물은 한 번 등록되어 오래 관리되고, 계약은 유닛마다 생겼다 끝나기를 반복한다.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유닛·청구 항목 설정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445752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관리위임 종료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 권한 소멸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874520"/>
            <a:ext cx="9537192" cy="457200"/>
          </a:xfrm>
          <a:prstGeom prst="roundRect">
            <a:avLst>
              <a:gd name="adj" fmla="val 16000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87452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관리위임계약 기간 — 운영사가 이 건물을 관리하는 동안 (수년 ~ 수십 년)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2331720"/>
            <a:ext cx="0" cy="2468880"/>
          </a:xfrm>
          <a:prstGeom prst="line">
            <a:avLst/>
          </a:prstGeom>
          <a:noFill/>
          <a:ln w="12700">
            <a:solidFill>
              <a:srgbClr val="B7C2C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1640312" y="2331720"/>
            <a:ext cx="0" cy="2468880"/>
          </a:xfrm>
          <a:prstGeom prst="line">
            <a:avLst/>
          </a:prstGeom>
          <a:noFill/>
          <a:ln w="12700">
            <a:solidFill>
              <a:srgbClr val="B7C2C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4864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8층 전체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2560320"/>
            <a:ext cx="440284" cy="457200"/>
          </a:xfrm>
          <a:prstGeom prst="roundRect">
            <a:avLst>
              <a:gd name="adj" fmla="val 12461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98268" y="2560320"/>
            <a:ext cx="3778301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07996" y="2560320"/>
            <a:ext cx="3595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13144" y="2560320"/>
            <a:ext cx="3778301" cy="457200"/>
          </a:xfrm>
          <a:prstGeom prst="roundRect">
            <a:avLst>
              <a:gd name="adj" fmla="val 12000"/>
            </a:avLst>
          </a:prstGeom>
          <a:solidFill>
            <a:srgbClr val="1F7A6F"/>
          </a:solidFill>
          <a:ln w="12700">
            <a:solidFill>
              <a:srgbClr val="1F7A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2872" y="2560320"/>
            <a:ext cx="3595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재계약 A′ (같은 임차인)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28021" y="2560320"/>
            <a:ext cx="1394003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4864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701호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21408" y="3154680"/>
            <a:ext cx="1394003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231136" y="3154680"/>
            <a:ext cx="1211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51987" y="3154680"/>
            <a:ext cx="3301441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61715" y="3154680"/>
            <a:ext cx="3118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90004" y="3154680"/>
            <a:ext cx="1203259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999732" y="3154680"/>
            <a:ext cx="10203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29839" y="3154680"/>
            <a:ext cx="3492185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9567" y="3154680"/>
            <a:ext cx="330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C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302호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21408" y="3749040"/>
            <a:ext cx="2824582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31136" y="3749040"/>
            <a:ext cx="2641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2566" y="3749040"/>
            <a:ext cx="917143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5092294" y="3749040"/>
            <a:ext cx="734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36285" y="3749040"/>
            <a:ext cx="1394003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46013" y="3749040"/>
            <a:ext cx="1211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E · 중도 해지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66864" y="3749040"/>
            <a:ext cx="1394003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476592" y="3749040"/>
            <a:ext cx="1211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797442" y="3749040"/>
            <a:ext cx="2824582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07170" y="3749040"/>
            <a:ext cx="2641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F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1층 상가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121408" y="4343400"/>
            <a:ext cx="5494995" cy="457200"/>
          </a:xfrm>
          <a:prstGeom prst="roundRect">
            <a:avLst>
              <a:gd name="adj" fmla="val 12000"/>
            </a:avLst>
          </a:prstGeom>
          <a:solidFill>
            <a:srgbClr val="D5DADD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231136" y="4343400"/>
            <a:ext cx="531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비운영중 (건물주 직접 사용)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652979" y="4343400"/>
            <a:ext cx="726399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7762707" y="4343400"/>
            <a:ext cx="543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5955" y="4343400"/>
            <a:ext cx="3206069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25683" y="4343400"/>
            <a:ext cx="3023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03120" y="5001768"/>
            <a:ext cx="9537192" cy="0"/>
          </a:xfrm>
          <a:prstGeom prst="line">
            <a:avLst/>
          </a:prstGeom>
          <a:noFill/>
          <a:ln w="12700">
            <a:solidFill>
              <a:srgbClr val="8A979E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1091672" y="50474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03120" y="5111496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450592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(진행중)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0" y="5111496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1F7A6F"/>
          </a:solidFill>
          <a:ln w="12700">
            <a:solidFill>
              <a:srgbClr val="1F7A6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005072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재계약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12080" y="5111496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EEF1F3"/>
          </a:solidFill>
          <a:ln w="12700">
            <a:solidFill>
              <a:srgbClr val="B7C2C8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5559552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66560" y="5111496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D5DADD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14032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비운영중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5486400"/>
            <a:ext cx="3514344" cy="914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1520" y="5596128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계약은 유닛마다 따로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731520" y="5888736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회사가 여러 층을 써도 층마다 계약이 있다. 한 층만 해지하거나 추가로 빌리는 일이 있기 때문이다.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337304" y="5486400"/>
            <a:ext cx="3514344" cy="914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20184" y="5596128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공실은 건물주 부담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520184" y="5888736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 기간에도 공용 관리비는 나뉘어 잡힌다. 공실 몫은 청구서 없이 건물주가 부담한다.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25968" y="5486400"/>
            <a:ext cx="3514344" cy="914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308848" y="5596128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돈은 계약에서 나온다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308848" y="5888736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청구·입금·미납·장부는 모두 계약 단위로 쌓인다. 계약 안에서 무슨 일이 반복되는지는 다음 장.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계약의 라이프사이클 — 그 안에서 매달 돈이 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계약이 진행중인 동안 매달 같은 다섯 단계가 반복된다. 이 반복이 시스템의 중심이다.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3F2F0"/>
          </a:solidFill>
          <a:ln w="12700">
            <a:solidFill>
              <a:srgbClr val="2A9D8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13232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등록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29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준비중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768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계약금만 받은 상태.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임대료는 아직 없다.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600200"/>
            <a:ext cx="6858000" cy="1188720"/>
          </a:xfrm>
          <a:prstGeom prst="roundRect">
            <a:avLst>
              <a:gd name="adj" fmla="val 615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진행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D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F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중간에 임대료 인상 일정 · 재계약이 끼어든다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1월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69732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78292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13385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21945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3월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57037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65597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4월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00689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09249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5월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44342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52902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6월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87994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96554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31647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0207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8월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75299" y="2350008"/>
            <a:ext cx="329184" cy="32918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83859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18951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27511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362604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1164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11월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906256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14816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12월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784080" y="1600200"/>
            <a:ext cx="1856232" cy="1188720"/>
          </a:xfrm>
          <a:prstGeom prst="roundRect">
            <a:avLst>
              <a:gd name="adj" fmla="val 6154"/>
            </a:avLst>
          </a:prstGeom>
          <a:solidFill>
            <a:srgbClr val="EEF1F3"/>
          </a:solidFill>
          <a:ln w="12700">
            <a:solidFill>
              <a:srgbClr val="B7C2C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48672" y="173736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종료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029968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종료됨 · 파기됨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948672" y="2276856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보증금에서 미납을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빼고 돌려준다.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41448" y="2084832"/>
            <a:ext cx="146304" cy="219456"/>
          </a:xfrm>
          <a:prstGeom prst="chevron">
            <a:avLst/>
          </a:prstGeom>
          <a:solidFill>
            <a:srgbClr val="8A979E"/>
          </a:solidFill>
          <a:ln w="12700">
            <a:solidFill>
              <a:srgbClr val="8A979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645920" y="2834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보증금 전액 입금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573768" y="2084832"/>
            <a:ext cx="146304" cy="219456"/>
          </a:xfrm>
          <a:prstGeom prst="chevron">
            <a:avLst/>
          </a:prstGeom>
          <a:solidFill>
            <a:srgbClr val="8A979E"/>
          </a:solidFill>
          <a:ln w="12700">
            <a:solidFill>
              <a:srgbClr val="8A979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0" y="2834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만기 · 해지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H="1">
            <a:off x="822960" y="2679192"/>
            <a:ext cx="6616931" cy="658368"/>
          </a:xfrm>
          <a:prstGeom prst="line">
            <a:avLst/>
          </a:prstGeom>
          <a:noFill/>
          <a:ln w="12700">
            <a:solidFill>
              <a:srgbClr val="E9A23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7439891" y="2679192"/>
            <a:ext cx="3926101" cy="658368"/>
          </a:xfrm>
          <a:prstGeom prst="line">
            <a:avLst/>
          </a:prstGeom>
          <a:noFill/>
          <a:ln w="12700">
            <a:solidFill>
              <a:srgbClr val="E9A23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48640" y="3337560"/>
            <a:ext cx="11091672" cy="3063240"/>
          </a:xfrm>
          <a:prstGeom prst="roundRect">
            <a:avLst>
              <a:gd name="adj" fmla="val 2985"/>
            </a:avLst>
          </a:prstGeom>
          <a:solidFill>
            <a:srgbClr val="FDF4E6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달의 사이클 — 예: 9월분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8622792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단위로 매달 돈다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7552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87552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463040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관리비 정산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87552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한전·수도 고지서와 계량기 검침값으로 유닛별 전기·수도 요금을 나눈다. 확정하면 잠긴다.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87552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PAY-10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79776" y="4777740"/>
            <a:ext cx="128016" cy="219456"/>
          </a:xfrm>
          <a:prstGeom prst="chevro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90088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54680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1546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3630168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청구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3154680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임대료(계약서 금액 그대로)와 정산된 관리비를 합쳐 계약당 청구서 1장으로 보낸다.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3154680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946904" y="4777740"/>
            <a:ext cx="128016" cy="219456"/>
          </a:xfrm>
          <a:prstGeom prst="chevro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57216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21808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2180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797296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수납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5321808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은행 거래내역을 올리면 입금 1건을 임대료·관리비 등 청구 항목별로 나눠 넣는다.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5321808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PAY-13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114032" y="4777740"/>
            <a:ext cx="128016" cy="219456"/>
          </a:xfrm>
          <a:prstGeom prst="chevro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24344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88936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488936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964424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미납 관리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7488936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덜 들어온 돈을 확인하고 안내 메일을 보낸다. 연체료는 계산만 하고 받을지는 사람이 정한다.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7488936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PAY-2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281160" y="4777740"/>
            <a:ext cx="128016" cy="219456"/>
          </a:xfrm>
          <a:prstGeom prst="chevro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491472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56064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656064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131552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마감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9656064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× 월 단위로 장부를 잠근다. 이후 틀린 것은 고치지 않고 조정 거래로 바로잡는다.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9656064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PAY-11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760220" y="6035040"/>
            <a:ext cx="8668512" cy="0"/>
          </a:xfrm>
          <a:prstGeom prst="line">
            <a:avLst/>
          </a:prstGeom>
          <a:noFill/>
          <a:ln w="15875">
            <a:solidFill>
              <a:srgbClr val="E9A23B"/>
            </a:solidFill>
            <a:prstDash val="solid"/>
            <a:headEnd type="triangle"/>
          </a:ln>
        </p:spPr>
      </p:sp>
      <p:sp>
        <p:nvSpPr>
          <p:cNvPr id="84" name="Shape 82"/>
          <p:cNvSpPr/>
          <p:nvPr/>
        </p:nvSpPr>
        <p:spPr>
          <a:xfrm>
            <a:off x="5088636" y="5897880"/>
            <a:ext cx="2011680" cy="274320"/>
          </a:xfrm>
          <a:prstGeom prst="rect">
            <a:avLst/>
          </a:prstGeom>
          <a:solidFill>
            <a:srgbClr val="FDF4E6"/>
          </a:solidFill>
          <a:ln w="12700">
            <a:solidFill>
              <a:srgbClr val="FDF4E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088636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달 다시 1번부터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범위 — 1차는 관리자 백오피스, 2차는 포털과 외부 연동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77개 화면 중 1차 35개, 2차 42개. 1차만으로 매달의 사이클(정산 → 청구 → 수납 → 보고 → 마감)이 끝까지 돈다.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 </a:t>
            </a:r>
            <a:pPr indent="0" marL="0">
              <a:buNone/>
            </a:pPr>
            <a:r>
              <a:rPr lang="en-US" sz="1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35개 화면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관리자만 쓴다. 임대인·임차인은 로그인하지 않는다.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청구·수납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83080" y="2368296"/>
            <a:ext cx="3749040" cy="169164"/>
          </a:xfrm>
          <a:prstGeom prst="roundRect">
            <a:avLst>
              <a:gd name="adj" fmla="val 16216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05272" y="233172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2890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사용자·계정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83080" y="2665476"/>
            <a:ext cx="2624328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62890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783080" y="2962656"/>
            <a:ext cx="1499616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55848" y="292608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2326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783080" y="3259836"/>
            <a:ext cx="1499616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55848" y="322326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문서 보관함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83080" y="3557016"/>
            <a:ext cx="1124712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80944" y="352044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1762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783080" y="3854196"/>
            <a:ext cx="749808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06040" y="381762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관리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783080" y="4151376"/>
            <a:ext cx="749808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06040" y="411480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1198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리포트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83080" y="4448556"/>
            <a:ext cx="374904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31136" y="441198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70916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83080" y="4745736"/>
            <a:ext cx="374904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31136" y="470916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006340"/>
            <a:ext cx="11430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783080" y="5042916"/>
            <a:ext cx="374904" cy="169164"/>
          </a:xfrm>
          <a:prstGeom prst="roundRect">
            <a:avLst>
              <a:gd name="adj" fmla="val 1621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31136" y="5006340"/>
            <a:ext cx="3657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DF4E6"/>
          </a:solidFill>
          <a:ln w="12700">
            <a:solidFill>
              <a:srgbClr val="FDF4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349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청구·수납 10개가 핵심이다. 돈을 다루는 규칙과 난이도가 여기에 몰려 있다.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15544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2차  </a:t>
            </a:r>
            <a:pPr indent="0" marL="0">
              <a:buNone/>
            </a:pPr>
            <a:r>
              <a:rPr lang="en-US" sz="1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42개 화면 + 신규 기능 3건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1938528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1차를 운영해 본 뒤, 필요가 확인되면 착수한다.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73252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1차에서는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알림·공지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24871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732520" y="24871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알림톡 (1차는 이메일)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0" y="28529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임차인 포털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046720" y="28529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732520" y="285292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관리자가 대신 처리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32186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임대인 포털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046720" y="3218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732520" y="32186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보고서를 PDF·메일로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0" y="3584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공용시설 예약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8046720" y="358444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8732520" y="35844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0" y="39502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관리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8046720" y="39502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8732520" y="395020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전화·메신저 접수 유지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0" y="4315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권한 세분화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8046720" y="43159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732520" y="431596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슈퍼관리자·관리자 2종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400800" y="4681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수납 자동 처리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046720" y="46817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8732520" y="468172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 연동 (1차는 거래내역 업로드)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00800" y="5138928"/>
            <a:ext cx="5239512" cy="731520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583680" y="5230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신규 3건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0" y="550468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비용 관리 · 임대인 정산·송금 · 서비스 운영(가입·요금제)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5943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2차로 미룬 기준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331720" y="59436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468880" y="5943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 없어도 월 사이클이 돈다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892040" y="594360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029200" y="5943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 외부 계약·심사가 필요하다 (PG · 알림톡 · 세금계산서)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915400" y="594360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052560" y="5943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 일부만 만들면 엑셀과 이중 관리가 된다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기술 스펙과 진행 방식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 명세는 12개 문서로 완성되어 있다. 외부 개발자가 뼈대와 기준 코드를 만들고, 나머지는 그 패턴을 따라 내부에서 만든다.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Next.js · TypeScript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화면과 서버 로직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Supabase PostgreSQL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서울 리전. 국외 이전 문제 없음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RLS (행 단위 보안)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 격리를 DB에서 강제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0175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Supabase Auth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 · 2단계 인증 · 계정 잠금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06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Supabase Storage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첨부파일. 운영사별 경로 분리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4069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66160" y="4206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Cloudflare · 이메일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brikka.co.kr · 청구서 PDF 첨부 발송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55448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반드시 지킬 원칙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2002536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196596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 격리는 DB가 막는다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25856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조회 조건을 코드에 붙이는 방식이 아니다. 격리 테스트를 명령어 하나로 돌린다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688336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265176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권한 검사는 서버에서 매 요청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294436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버튼을 숨기는 것은 권한 검사가 아니다. 관리자는 배정 건물만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3374136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333756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장부 기록은 고치거나 지우지 않는다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63016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틀리면 취소 거래로 상쇄하고 다시 기록한다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4059936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402336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 구조에서 타입을 자동 생성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431596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코딩 도구가 없는 컬럼을 지어내지 못하게 한다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148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 단계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" y="5550408"/>
            <a:ext cx="2086661" cy="960120"/>
          </a:xfrm>
          <a:prstGeom prst="roundRect">
            <a:avLst>
              <a:gd name="adj" fmla="val 7619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" y="56418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ED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843016"/>
            <a:ext cx="18123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1단계 · 설계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6099048"/>
            <a:ext cx="18123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3E4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 스키마 · 프로젝트 뼈대 · 건물 모듈 기준 구현 · 인계 문서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671877" y="5934456"/>
            <a:ext cx="91440" cy="182880"/>
          </a:xfrm>
          <a:prstGeom prst="chevron">
            <a:avLst/>
          </a:prstGeom>
          <a:solidFill>
            <a:srgbClr val="8A979E"/>
          </a:solidFill>
          <a:ln w="12700">
            <a:solidFill>
              <a:srgbClr val="8A97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99893" y="5550408"/>
            <a:ext cx="2086661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937053" y="56418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내부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2937053" y="5843016"/>
            <a:ext cx="18123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화면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937053" y="6099048"/>
            <a:ext cx="18123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+ AI 코딩 도구가 패턴을 따라 확장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23130" y="5934456"/>
            <a:ext cx="91440" cy="182880"/>
          </a:xfrm>
          <a:prstGeom prst="chevron">
            <a:avLst/>
          </a:prstGeom>
          <a:solidFill>
            <a:srgbClr val="8A979E"/>
          </a:solidFill>
          <a:ln w="12700">
            <a:solidFill>
              <a:srgbClr val="8A979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51146" y="5550408"/>
            <a:ext cx="2086661" cy="960120"/>
          </a:xfrm>
          <a:prstGeom prst="roundRect">
            <a:avLst>
              <a:gd name="adj" fmla="val 7619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88306" y="56418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188306" y="5843016"/>
            <a:ext cx="18123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2단계 · 청구·원장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188306" y="6099048"/>
            <a:ext cx="18123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돈을 다루는 부분의 기준 구현과 검토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174382" y="5934456"/>
            <a:ext cx="91440" cy="182880"/>
          </a:xfrm>
          <a:prstGeom prst="chevron">
            <a:avLst/>
          </a:prstGeom>
          <a:solidFill>
            <a:srgbClr val="8A979E"/>
          </a:solidFill>
          <a:ln w="12700">
            <a:solidFill>
              <a:srgbClr val="8A979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02398" y="5550408"/>
            <a:ext cx="2086661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439558" y="56418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내부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7439558" y="5843016"/>
            <a:ext cx="18123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나머지 화면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7439558" y="6099048"/>
            <a:ext cx="18123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청구·수납 화면 완성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425635" y="5934456"/>
            <a:ext cx="91440" cy="182880"/>
          </a:xfrm>
          <a:prstGeom prst="chevron">
            <a:avLst/>
          </a:prstGeom>
          <a:solidFill>
            <a:srgbClr val="8A979E"/>
          </a:solidFill>
          <a:ln w="12700">
            <a:solidFill>
              <a:srgbClr val="8A979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53651" y="5550408"/>
            <a:ext cx="2086661" cy="960120"/>
          </a:xfrm>
          <a:prstGeom prst="roundRect">
            <a:avLst>
              <a:gd name="adj" fmla="val 7619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690811" y="56418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690811" y="5843016"/>
            <a:ext cx="18123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3단계 · 검수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9690811" y="6099048"/>
            <a:ext cx="18123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 · 배포 점검 후 오픈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2026-09-29T22:04:49Z</dcterms:created>
  <dcterms:modified xsi:type="dcterms:W3CDTF">2026-09-29T22:04:49Z</dcterms:modified>
</cp:coreProperties>
</file>