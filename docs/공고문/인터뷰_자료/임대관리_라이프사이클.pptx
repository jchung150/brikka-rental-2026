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건물은 관리위임계약을 맺으면서 등록되고, 위임이 끝나면 관리 권한이 사라집니다. 그 긴 기간 동안 유닛마다 계약이 생기고 끝나기를 반복합니다. 계약과 계약 사이에는 공실이 생기고, 같은 임차인이 이어서 쓰면 재계약입니다. 건물주가 직접 쓰는 공간은 비운영중으로 둡니다. 시스템에서 돈이 발생하는 단위는 건물이 아니라 계약입니다.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계약은 준비중으로 등록되고, 보증금이 다 들어오면 진행중이 됩니다. 진행중인 동안 매달 같은 사이클이 돕니다. 먼저 한전·수도 고지서를 받아 유닛별로 관리비를 나누고(정산), 임대료와 합쳐 청구서를 보냅니다. 입금이 들어오면 은행 거래내역을 올려 어느 청구에 해당하는지 나눠 넣고, 덜 들어온 돈은 미납으로 관리합니다. 마지막으로 그 달 장부를 잠급니다. 미납이 남아 있어도 마감하며, 미납은 다음 달로 넘어갑니다. 마감 뒤에는 기록을 고치지 않고 조정 거래로 바로잡습니다.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건물의 라이프사이클 — 계약은 그 사이사이에 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건물은 한 번 등록되어 오래 관리되고, 계약은 유닛마다 생겼다 끝나기를 반복한다.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유닛·청구 항목 설정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445752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관리위임 종료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 권한 소멸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874520"/>
            <a:ext cx="9537192" cy="457200"/>
          </a:xfrm>
          <a:prstGeom prst="roundRect">
            <a:avLst>
              <a:gd name="adj" fmla="val 16000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87452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관리위임계약 기간 — 운영사가 이 건물을 관리하는 동안 (수년 ~ 수십 년)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2331720"/>
            <a:ext cx="0" cy="2468880"/>
          </a:xfrm>
          <a:prstGeom prst="line">
            <a:avLst/>
          </a:prstGeom>
          <a:noFill/>
          <a:ln w="12700">
            <a:solidFill>
              <a:srgbClr val="B7C2C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1640312" y="2331720"/>
            <a:ext cx="0" cy="2468880"/>
          </a:xfrm>
          <a:prstGeom prst="line">
            <a:avLst/>
          </a:prstGeom>
          <a:noFill/>
          <a:ln w="12700">
            <a:solidFill>
              <a:srgbClr val="B7C2C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4864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8층 전체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2560320"/>
            <a:ext cx="440284" cy="457200"/>
          </a:xfrm>
          <a:prstGeom prst="roundRect">
            <a:avLst>
              <a:gd name="adj" fmla="val 12461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98268" y="2560320"/>
            <a:ext cx="3778301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07996" y="2560320"/>
            <a:ext cx="3595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13144" y="2560320"/>
            <a:ext cx="3778301" cy="457200"/>
          </a:xfrm>
          <a:prstGeom prst="roundRect">
            <a:avLst>
              <a:gd name="adj" fmla="val 12000"/>
            </a:avLst>
          </a:prstGeom>
          <a:solidFill>
            <a:srgbClr val="1F7A6F"/>
          </a:solidFill>
          <a:ln w="12700">
            <a:solidFill>
              <a:srgbClr val="1F7A6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2872" y="2560320"/>
            <a:ext cx="3595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재계약 A′ (같은 임차인)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228021" y="2560320"/>
            <a:ext cx="1394003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4864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701호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21408" y="3154680"/>
            <a:ext cx="1394003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231136" y="3154680"/>
            <a:ext cx="1211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51987" y="3154680"/>
            <a:ext cx="3301441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61715" y="3154680"/>
            <a:ext cx="3118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90004" y="3154680"/>
            <a:ext cx="1203259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999732" y="3154680"/>
            <a:ext cx="10203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29839" y="3154680"/>
            <a:ext cx="3492185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9567" y="3154680"/>
            <a:ext cx="3309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C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302호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21408" y="3749040"/>
            <a:ext cx="2824582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31136" y="3749040"/>
            <a:ext cx="2641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2566" y="3749040"/>
            <a:ext cx="917143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5092294" y="3749040"/>
            <a:ext cx="734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36285" y="3749040"/>
            <a:ext cx="1394003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46013" y="3749040"/>
            <a:ext cx="1211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E · 중도 해지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66864" y="3749040"/>
            <a:ext cx="1394003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476592" y="3749040"/>
            <a:ext cx="12111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797442" y="3749040"/>
            <a:ext cx="2824582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07170" y="3749040"/>
            <a:ext cx="2641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F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1층 상가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121408" y="4343400"/>
            <a:ext cx="5494995" cy="457200"/>
          </a:xfrm>
          <a:prstGeom prst="roundRect">
            <a:avLst>
              <a:gd name="adj" fmla="val 12000"/>
            </a:avLst>
          </a:prstGeom>
          <a:solidFill>
            <a:srgbClr val="D5DADD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231136" y="4343400"/>
            <a:ext cx="5312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비운영중 (건물주 직접 사용)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652979" y="4343400"/>
            <a:ext cx="726399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9525">
            <a:solidFill>
              <a:srgbClr val="B7C2C8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7762707" y="4343400"/>
            <a:ext cx="543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5955" y="4343400"/>
            <a:ext cx="3206069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25683" y="4343400"/>
            <a:ext cx="3023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03120" y="5001768"/>
            <a:ext cx="9537192" cy="0"/>
          </a:xfrm>
          <a:prstGeom prst="line">
            <a:avLst/>
          </a:prstGeom>
          <a:noFill/>
          <a:ln w="12700">
            <a:solidFill>
              <a:srgbClr val="8A979E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11091672" y="50474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03120" y="5111496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450592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(진행중)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0" y="5111496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1F7A6F"/>
          </a:solidFill>
          <a:ln w="12700">
            <a:solidFill>
              <a:srgbClr val="1F7A6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005072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재계약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12080" y="5111496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EEF1F3"/>
          </a:solidFill>
          <a:ln w="12700">
            <a:solidFill>
              <a:srgbClr val="B7C2C8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5559552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66560" y="5111496"/>
            <a:ext cx="274320" cy="164592"/>
          </a:xfrm>
          <a:prstGeom prst="roundRect">
            <a:avLst>
              <a:gd name="adj" fmla="val 16667"/>
            </a:avLst>
          </a:prstGeom>
          <a:solidFill>
            <a:srgbClr val="D5DADD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14032" y="5074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비운영중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5486400"/>
            <a:ext cx="3514344" cy="914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1520" y="5596128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계약은 유닛마다 따로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731520" y="5888736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회사가 여러 층을 써도 층마다 계약이 있다. 한 층만 해지하거나 추가로 빌리는 일이 있기 때문이다.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337304" y="5486400"/>
            <a:ext cx="3514344" cy="914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20184" y="5596128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공실은 건물주 부담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520184" y="5888736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공실 기간에도 공용 관리비는 나뉘어 잡힌다. 공실 몫은 청구서 없이 건물주가 부담한다.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25968" y="5486400"/>
            <a:ext cx="3514344" cy="9144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308848" y="5596128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돈은 계약에서 나온다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8308848" y="5888736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청구·입금·미납·장부는 모두 계약 단위로 쌓인다. 계약 안에서 무슨 일이 반복되는지는 다음 장.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계약의 라이프사이클 — 그 안에서 매달 돈이 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계약이 진행중인 동안 매달 같은 다섯 단계가 반복된다. 이 반복이 시스템의 중심이다.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E3F2F0"/>
          </a:solidFill>
          <a:ln w="12700">
            <a:solidFill>
              <a:srgbClr val="2A9D8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13232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등록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29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준비중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768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계약금만 받은 상태.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임대료는 아직 없다.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600200"/>
            <a:ext cx="6858000" cy="1188720"/>
          </a:xfrm>
          <a:prstGeom prst="roundRect">
            <a:avLst>
              <a:gd name="adj" fmla="val 615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진행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D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F4F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중간에 임대료 인상 일정 · 재계약이 끼어든다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1월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69732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78292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13385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21945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3월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57037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65597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4월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00689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09249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5월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44342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52902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6월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87994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96554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31647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0207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8월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75299" y="2350008"/>
            <a:ext cx="329184" cy="32918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83859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18951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27511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362604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1164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11월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906256" y="23500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14816" y="23500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6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12월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784080" y="1600200"/>
            <a:ext cx="1856232" cy="1188720"/>
          </a:xfrm>
          <a:prstGeom prst="roundRect">
            <a:avLst>
              <a:gd name="adj" fmla="val 6154"/>
            </a:avLst>
          </a:prstGeom>
          <a:solidFill>
            <a:srgbClr val="EEF1F3"/>
          </a:solidFill>
          <a:ln w="12700">
            <a:solidFill>
              <a:srgbClr val="B7C2C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48672" y="173736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계약 종료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2029968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종료됨 · 파기됨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948672" y="2276856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보증금에서 미납을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빼고 돌려준다.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41448" y="2084832"/>
            <a:ext cx="146304" cy="219456"/>
          </a:xfrm>
          <a:prstGeom prst="chevron">
            <a:avLst/>
          </a:prstGeom>
          <a:solidFill>
            <a:srgbClr val="8A979E"/>
          </a:solidFill>
          <a:ln w="12700">
            <a:solidFill>
              <a:srgbClr val="8A979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645920" y="2834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보증금 전액 입금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573768" y="2084832"/>
            <a:ext cx="146304" cy="219456"/>
          </a:xfrm>
          <a:prstGeom prst="chevron">
            <a:avLst/>
          </a:prstGeom>
          <a:solidFill>
            <a:srgbClr val="8A979E"/>
          </a:solidFill>
          <a:ln w="12700">
            <a:solidFill>
              <a:srgbClr val="8A979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0" y="2834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만기 · 해지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H="1">
            <a:off x="822960" y="2679192"/>
            <a:ext cx="6616931" cy="658368"/>
          </a:xfrm>
          <a:prstGeom prst="line">
            <a:avLst/>
          </a:prstGeom>
          <a:noFill/>
          <a:ln w="12700">
            <a:solidFill>
              <a:srgbClr val="E9A23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7439891" y="2679192"/>
            <a:ext cx="3926101" cy="658368"/>
          </a:xfrm>
          <a:prstGeom prst="line">
            <a:avLst/>
          </a:prstGeom>
          <a:noFill/>
          <a:ln w="12700">
            <a:solidFill>
              <a:srgbClr val="E9A23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48640" y="3337560"/>
            <a:ext cx="11091672" cy="3063240"/>
          </a:xfrm>
          <a:prstGeom prst="roundRect">
            <a:avLst>
              <a:gd name="adj" fmla="val 2985"/>
            </a:avLst>
          </a:prstGeom>
          <a:solidFill>
            <a:srgbClr val="FDF4E6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달의 사이클 — 예: 9월분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8622792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단위로 매달 돈다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7552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87552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463040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관리비 정산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87552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한전·수도 고지서와 계량기 검침값으로 유닛별 전기·수도 요금을 나눈다. 확정하면 잠긴다.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987552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PAY-10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79776" y="4777740"/>
            <a:ext cx="128016" cy="219456"/>
          </a:xfrm>
          <a:prstGeom prst="chevro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90088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54680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1546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3630168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청구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3154680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임대료(계약서 금액 그대로)와 정산된 관리비를 합쳐 계약당 청구서 1장으로 보낸다.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3154680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946904" y="4777740"/>
            <a:ext cx="128016" cy="219456"/>
          </a:xfrm>
          <a:prstGeom prst="chevro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57216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21808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2180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5797296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수납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5321808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은행 거래내역을 올리면 입금 1건을 임대료·관리비 등 청구 항목별로 나눠 넣는다.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5321808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PAY-13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114032" y="4777740"/>
            <a:ext cx="128016" cy="219456"/>
          </a:xfrm>
          <a:prstGeom prst="chevro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24344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88936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488936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7964424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미납 관리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7488936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덜 들어온 돈을 확인하고 안내 메일을 보낸다. 연체료는 계산만 하고 받을지는 사람이 정한다.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7488936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PAY-2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281160" y="4777740"/>
            <a:ext cx="128016" cy="219456"/>
          </a:xfrm>
          <a:prstGeom prst="chevron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491472" y="3995928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1D9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56064" y="4160520"/>
            <a:ext cx="384048" cy="38404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656064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131552" y="41605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마감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9656064" y="4654296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건물 × 월 단위로 장부를 잠근다. 이후 틀린 것은 고치지 않고 조정 거래로 바로잡는다.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9656064" y="5486400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PAY-11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760220" y="6035040"/>
            <a:ext cx="8668512" cy="0"/>
          </a:xfrm>
          <a:prstGeom prst="line">
            <a:avLst/>
          </a:prstGeom>
          <a:noFill/>
          <a:ln w="15875">
            <a:solidFill>
              <a:srgbClr val="E9A23B"/>
            </a:solidFill>
            <a:prstDash val="solid"/>
            <a:headEnd type="triangle"/>
          </a:ln>
        </p:spPr>
      </p:sp>
      <p:sp>
        <p:nvSpPr>
          <p:cNvPr id="84" name="Shape 82"/>
          <p:cNvSpPr/>
          <p:nvPr/>
        </p:nvSpPr>
        <p:spPr>
          <a:xfrm>
            <a:off x="5088636" y="5897880"/>
            <a:ext cx="2011680" cy="274320"/>
          </a:xfrm>
          <a:prstGeom prst="rect">
            <a:avLst/>
          </a:prstGeom>
          <a:solidFill>
            <a:srgbClr val="FDF4E6"/>
          </a:solidFill>
          <a:ln w="12700">
            <a:solidFill>
              <a:srgbClr val="FDF4E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088636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21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달 다시 1번부터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2026-09-29T21:51:17Z</dcterms:created>
  <dcterms:modified xsi:type="dcterms:W3CDTF">2026-09-29T21:51:17Z</dcterms:modified>
</cp:coreProperties>
</file>